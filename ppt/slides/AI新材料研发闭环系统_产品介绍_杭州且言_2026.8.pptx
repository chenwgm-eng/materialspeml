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开场先问：上个月你们失败的那些实验，结论现在在哪？在谁的电脑里？还找得到吗？今天讲的就是这件事——怎么让每一次实验的结果，都变成下一次实验的输入。创始人九年西门子 RD&amp;L 经历，是全篇唯一无法复制的信任资产。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'随时打断'四个字很重要——敢让客户打断，本身就是自信。今天五件事：为什么慢、我们的答案、系统长什么样、值多少钱、凭什么信我们。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章节页不要念标题，直接用画面开场。大家想想自己团队里，一个候选从提出到进实验室，中间到底要搬多少趟数据。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这页不用念。问台下：你们团队里有没有人每天就是干这个的？通常大家都会笑。笑完补一句：模型年年升级，研发流程十年没变。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四个场景至少有一个会让台下点头。讲到那个的时候停一拍。这四个问题，换再强的模型也解决不了。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第二章就一句话。不卖概念，直接给答案。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拿一个真实候选走一遍图：比如一个固态电解质候选，从检索到进湿实验。讲具体的，不要讲概念。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问台下：左边这个场景眼熟吗？左边是真实截图（数据脱敏），右边是系统里的实验闭环迭代界面。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从这页开始，少讲概念，多给证据。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主动说出哪个环节还在打磨。客户早晚会发现，不如自己先说——先说的人掌握解释权。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这页是写给技术专家看的。CGCNN、M3GNet、polyBERT、MP、GNoME、ASKCOS 都是真实经过验证的工具，我们不重复造轮子。合成设计仅列 SMARTS 反应规则检查，不夸大 REACH。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演示比截图有说服力十倍。主动提现场演示——敢演示，本身就是信任。脚标已改为'真实系统截图，数据已脱敏'。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研发专家不签字，AI 的结论就是废纸，系统就是按这个原则设计的。右侧是控制平面的真实界面，运行队列、失败可恢复、全程留痕。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第四章回答客户最实际的两个问题：值多少钱、凭什么选我们。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这页的数字必须是真的，宁可保守。客户会拿这页去跟老板要钱——数字被戳穿，单子就没了。知识沉淀不进 ROI 公式，但项目结束那天，你会第一次留下一份完整的'当时为什么这么做'。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我们只在'新材料研发闭环'这一件事上有信心做到最好。其他维度不如大厂的，我们主动认。'无人同时打通'改为'据我们所知还很少，欢迎交流'。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这页讲自己的经历，不要念稿。最好举一个当年亲眼见过的客户例子（脱敏）。台下如果有 RD&amp;L 老用户，这页是他们放下手机的一页。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敢承认'还没做到'，'已做到'的才有人信。三个阶段的标注是诚实的：已跑通 / 扩展 / 规划。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第五章回答客户第二个疑问：凭什么信一家初创公司。答案不是口号，是证据。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这是全篇唯一的'人'的画面。信任最终落在人身上。创始人九年 RD&amp;L 经历,是唯一无法被复制的东西。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四道闸：数据不出边界、每个决策有人负责、AI 行为有缰绳、收益不注水。这页讲给 IT 和管理层听。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87% 的故事一定要亲口讲，讲出当时的细节。敢讲失败过的公司，数字才有人信。每个数字保留来源标注：文献验证 / 演示环境 / 系统注册。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说完就停。不要补'谢谢大家'。沉默三秒，等第一个问题。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7F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601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8A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MATERIALS R&amp;D · MATERIALSPEML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新材料研发闭环系统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21284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07F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让每一次实验都算数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7889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候选生成、性质预测、合成设计、湿实验验证——串成一条会自己变聪明的研发流水线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903720" y="1097280"/>
            <a:ext cx="1737360" cy="1737360"/>
          </a:xfrm>
          <a:prstGeom prst="ellipse">
            <a:avLst/>
          </a:prstGeom>
          <a:solidFill>
            <a:srgbClr val="18A999">
              <a:alpha val="12000"/>
            </a:srgbClr>
          </a:solidFill>
          <a:ln w="19050">
            <a:solidFill>
              <a:srgbClr val="18A9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1508760"/>
            <a:ext cx="914400" cy="914400"/>
          </a:xfrm>
          <a:prstGeom prst="ellipse">
            <a:avLst/>
          </a:prstGeom>
          <a:solidFill>
            <a:srgbClr val="F07F45">
              <a:alpha val="20000"/>
            </a:srgbClr>
          </a:solidFill>
          <a:ln w="12700">
            <a:solidFill>
              <a:srgbClr val="F07F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9502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MaterialsPEML · 杭州且言管理咨询有限公司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4261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A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创始人【姓名】· 前西门子 Opcenter RD&amp;L 中国区产品管理（九年）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553712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0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2026.8</a:t>
            </a:r>
            <a:endParaRPr lang="en-US" sz="1000" dirty="0"/>
          </a:p>
        </p:txBody>
      </p:sp>
      <p:sp>
        <p:nvSpPr>
          <p:cNvPr id="1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今天大约 20 分钟，讲五件事，欢迎随时打断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822960" cy="41148"/>
          </a:xfrm>
          <a:prstGeom prst="rect">
            <a:avLst/>
          </a:prstGeom>
          <a:solidFill>
            <a:srgbClr val="F07F4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258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07F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134416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为什么研发还是慢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234440" y="1618488"/>
            <a:ext cx="70408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问题不在模型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203911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07F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34440" y="20574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我们的答案：一条闭环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34440" y="2331720"/>
            <a:ext cx="70408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把断点接上，让数据自己流起来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752344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07F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34440" y="277063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系统长什么样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234440" y="3044952"/>
            <a:ext cx="70408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真实界面，不是概念图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465576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07F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34440" y="348386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值多少钱，凭什么选我们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34440" y="3758184"/>
            <a:ext cx="70408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算一笔账 + 主动说清强弱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417880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07F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34440" y="419709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凭什么信我们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234440" y="4471416"/>
            <a:ext cx="70408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全是证据，没有口号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4864608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0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新材料研发闭环系统 · 杭州且言管理咨询有限公司 · 2026.8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321040" y="486460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50" dirty="0"/>
          </a:p>
        </p:txBody>
      </p:sp>
      <p:sp>
        <p:nvSpPr>
          <p:cNvPr id="2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7F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18A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为什么研发还是慢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先从一个画面说起：一个候选材料，从被提出到真正进实验室，要走多少弯路。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07F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4864608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0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新材料研发闭环系统 · 杭州且言管理咨询有限公司 · 2026.8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321040" y="486460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50" dirty="0"/>
          </a:p>
        </p:txBody>
      </p:sp>
      <p:sp>
        <p:nvSpPr>
          <p:cNvPr id="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8A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挑战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工具越来越多，研发为什么还是慢？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一个研发工程师典型的一天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335024"/>
            <a:ext cx="822960" cy="41148"/>
          </a:xfrm>
          <a:prstGeom prst="rect">
            <a:avLst/>
          </a:prstGeom>
          <a:solidFill>
            <a:srgbClr val="F07F4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91640"/>
            <a:ext cx="2596896" cy="1371600"/>
          </a:xfrm>
          <a:prstGeom prst="roundRect">
            <a:avLst>
              <a:gd name="adj" fmla="val 4000"/>
            </a:avLst>
          </a:prstGeom>
          <a:solidFill>
            <a:srgbClr val="1E3A5C"/>
          </a:solidFill>
          <a:ln w="9525">
            <a:solidFill>
              <a:srgbClr val="2E4A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73152" cy="1371600"/>
          </a:xfrm>
          <a:prstGeom prst="rect">
            <a:avLst/>
          </a:prstGeom>
          <a:solidFill>
            <a:srgbClr val="216E9B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83794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16E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上午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2194560"/>
            <a:ext cx="2212848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CE7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在三个软件之间搬数据、转格式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73552" y="1691640"/>
            <a:ext cx="2596896" cy="1371600"/>
          </a:xfrm>
          <a:prstGeom prst="roundRect">
            <a:avLst>
              <a:gd name="adj" fmla="val 4000"/>
            </a:avLst>
          </a:prstGeom>
          <a:solidFill>
            <a:srgbClr val="1E3A5C"/>
          </a:solidFill>
          <a:ln w="9525">
            <a:solidFill>
              <a:srgbClr val="2E4A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73552" y="1691640"/>
            <a:ext cx="73152" cy="1371600"/>
          </a:xfrm>
          <a:prstGeom prst="rect">
            <a:avLst/>
          </a:prstGeom>
          <a:solidFill>
            <a:srgbClr val="18A999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83794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A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下午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2194560"/>
            <a:ext cx="2212848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CE7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等仿真、对结果、写邮件问同事要上周的实验记录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89904" y="1691640"/>
            <a:ext cx="2596896" cy="1371600"/>
          </a:xfrm>
          <a:prstGeom prst="roundRect">
            <a:avLst>
              <a:gd name="adj" fmla="val 4000"/>
            </a:avLst>
          </a:prstGeom>
          <a:solidFill>
            <a:srgbClr val="1E3A5C"/>
          </a:solidFill>
          <a:ln w="9525">
            <a:solidFill>
              <a:srgbClr val="2E4A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9904" y="1691640"/>
            <a:ext cx="73152" cy="1371600"/>
          </a:xfrm>
          <a:prstGeom prst="rect">
            <a:avLst/>
          </a:prstGeom>
          <a:solidFill>
            <a:srgbClr val="F07F45"/>
          </a:solidFill>
          <a:ln/>
        </p:spPr>
      </p:sp>
      <p:sp>
        <p:nvSpPr>
          <p:cNvPr id="16" name="Text 14"/>
          <p:cNvSpPr/>
          <p:nvPr/>
        </p:nvSpPr>
        <p:spPr>
          <a:xfrm>
            <a:off x="6291072" y="183794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07F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下班前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91072" y="2194560"/>
            <a:ext cx="2212848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CE7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把结果誊进 Excel，发进群文件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244466"/>
          </a:solidFill>
          <a:ln w="12700">
            <a:solidFill>
              <a:srgbClr val="F07F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4290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7F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模型比五年前强了很多，但人还是那个人肉接口。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02336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1E3A5C"/>
          </a:solidFill>
          <a:ln w="12700">
            <a:solidFill>
              <a:srgbClr val="18A9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1422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8A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我们的判断：瓶颈不在单点工具，在工具之间的断点上。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4864608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0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新材料研发闭环系统 · 杭州且言管理咨询有限公司 · 2026.8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8321040" y="486460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50" dirty="0"/>
          </a:p>
        </p:txBody>
      </p:sp>
      <p:sp>
        <p:nvSpPr>
          <p:cNvPr id="2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8A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挑战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研发卡住的地方，不是工具，是工具之间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四类损耗，每一类都能在你们团队里对上号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335024"/>
            <a:ext cx="822960" cy="41148"/>
          </a:xfrm>
          <a:prstGeom prst="rect">
            <a:avLst/>
          </a:prstGeom>
          <a:solidFill>
            <a:srgbClr val="F07F4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45920"/>
            <a:ext cx="4114800" cy="1371600"/>
          </a:xfrm>
          <a:prstGeom prst="roundRect">
            <a:avLst>
              <a:gd name="adj" fmla="val 4000"/>
            </a:avLst>
          </a:prstGeom>
          <a:solidFill>
            <a:srgbClr val="1E3A5C"/>
          </a:solidFill>
          <a:ln w="9525">
            <a:solidFill>
              <a:srgbClr val="2E4A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45920"/>
            <a:ext cx="73152" cy="1371600"/>
          </a:xfrm>
          <a:prstGeom prst="rect">
            <a:avLst/>
          </a:prstGeom>
          <a:solidFill>
            <a:srgbClr val="F07F45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77393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效率损耗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210312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一个候选从提出到验证往返【X】轮，真正做实验的时间不到一半，其余都在等、在搬数据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645920"/>
            <a:ext cx="4114800" cy="1371600"/>
          </a:xfrm>
          <a:prstGeom prst="roundRect">
            <a:avLst>
              <a:gd name="adj" fmla="val 4000"/>
            </a:avLst>
          </a:prstGeom>
          <a:solidFill>
            <a:srgbClr val="1E3A5C"/>
          </a:solidFill>
          <a:ln w="9525">
            <a:solidFill>
              <a:srgbClr val="2E4A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645920"/>
            <a:ext cx="73152" cy="1371600"/>
          </a:xfrm>
          <a:prstGeom prst="rect">
            <a:avLst/>
          </a:prstGeom>
          <a:solidFill>
            <a:srgbClr val="216E9B"/>
          </a:solidFill>
          <a:ln/>
        </p:spPr>
      </p:sp>
      <p:sp>
        <p:nvSpPr>
          <p:cNvPr id="12" name="Text 10"/>
          <p:cNvSpPr/>
          <p:nvPr/>
        </p:nvSpPr>
        <p:spPr>
          <a:xfrm>
            <a:off x="4956048" y="177393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知识流失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56048" y="210312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项目结项那天，'为什么选这个配方'只存在于【某位离职同事】的脑子里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127248"/>
            <a:ext cx="4114800" cy="1371600"/>
          </a:xfrm>
          <a:prstGeom prst="roundRect">
            <a:avLst>
              <a:gd name="adj" fmla="val 4000"/>
            </a:avLst>
          </a:prstGeom>
          <a:solidFill>
            <a:srgbClr val="1E3A5C"/>
          </a:solidFill>
          <a:ln w="9525">
            <a:solidFill>
              <a:srgbClr val="2E4A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27248"/>
            <a:ext cx="73152" cy="1371600"/>
          </a:xfrm>
          <a:prstGeom prst="rect">
            <a:avLst/>
          </a:prstGeom>
          <a:solidFill>
            <a:srgbClr val="18A999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32552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协作断层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" y="3584448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新同事接手的第一件事，是花两周读懂前任留下的脚本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3127248"/>
            <a:ext cx="4114800" cy="1371600"/>
          </a:xfrm>
          <a:prstGeom prst="roundRect">
            <a:avLst>
              <a:gd name="adj" fmla="val 4000"/>
            </a:avLst>
          </a:prstGeom>
          <a:solidFill>
            <a:srgbClr val="1E3A5C"/>
          </a:solidFill>
          <a:ln w="9525">
            <a:solidFill>
              <a:srgbClr val="2E4A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3127248"/>
            <a:ext cx="73152" cy="1371600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20" name="Text 18"/>
          <p:cNvSpPr/>
          <p:nvPr/>
        </p:nvSpPr>
        <p:spPr>
          <a:xfrm>
            <a:off x="4956048" y="32552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治理缺口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56048" y="3584448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 只问三个问题——数据存哪、谁能看、出事谁负责。个人工具一个都答不上来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617720"/>
            <a:ext cx="8229600" cy="0"/>
          </a:xfrm>
          <a:prstGeom prst="roundRect">
            <a:avLst/>
          </a:prstGeom>
          <a:solidFill>
            <a:srgbClr val="1E3A5C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864608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0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新材料研发闭环系统 · 杭州且言管理咨询有限公司 · 2026.8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321040" y="486460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850" dirty="0"/>
          </a:p>
        </p:txBody>
      </p:sp>
      <p:sp>
        <p:nvSpPr>
          <p:cNvPr id="2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7F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18A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我们的答案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只有一句话：把断点接上，让数据自己流起来。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07F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4864608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0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新材料研发闭环系统 · 杭州且言管理咨询有限公司 · 2026.8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321040" y="486460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850" dirty="0"/>
          </a:p>
        </p:txBody>
      </p:sp>
      <p:sp>
        <p:nvSpPr>
          <p:cNvPr id="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8A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答案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让每一次实验的结果，自己流回下一轮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一条闭环：提出候选 → 计算验证 → 合成设计 → 实验验证 → 复盘沉淀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335024"/>
            <a:ext cx="822960" cy="41148"/>
          </a:xfrm>
          <a:prstGeom prst="rect">
            <a:avLst/>
          </a:prstGeom>
          <a:solidFill>
            <a:srgbClr val="F07F45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78308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1E3A5C"/>
          </a:solidFill>
          <a:ln w="12700">
            <a:solidFill>
              <a:srgbClr val="18A9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783080"/>
            <a:ext cx="1481328" cy="64008"/>
          </a:xfrm>
          <a:prstGeom prst="rect">
            <a:avLst/>
          </a:prstGeom>
          <a:solidFill>
            <a:srgbClr val="18A99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947672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提出候选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生成·筛选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011680" y="2240280"/>
            <a:ext cx="54864" cy="27432"/>
          </a:xfrm>
          <a:prstGeom prst="rect">
            <a:avLst/>
          </a:prstGeom>
          <a:solidFill>
            <a:srgbClr val="60758A"/>
          </a:solidFill>
          <a:ln/>
        </p:spPr>
      </p:sp>
      <p:sp>
        <p:nvSpPr>
          <p:cNvPr id="11" name="Shape 9"/>
          <p:cNvSpPr/>
          <p:nvPr/>
        </p:nvSpPr>
        <p:spPr>
          <a:xfrm>
            <a:off x="2093976" y="178308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1E3A5C"/>
          </a:solidFill>
          <a:ln w="12700">
            <a:solidFill>
              <a:srgbClr val="216E9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93976" y="1783080"/>
            <a:ext cx="1481328" cy="64008"/>
          </a:xfrm>
          <a:prstGeom prst="rect">
            <a:avLst/>
          </a:prstGeom>
          <a:solidFill>
            <a:srgbClr val="216E9B"/>
          </a:solidFill>
          <a:ln/>
        </p:spPr>
      </p:sp>
      <p:sp>
        <p:nvSpPr>
          <p:cNvPr id="13" name="Text 11"/>
          <p:cNvSpPr/>
          <p:nvPr/>
        </p:nvSpPr>
        <p:spPr>
          <a:xfrm>
            <a:off x="2093976" y="1947672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计算验证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93976" y="2286000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预测·精算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02736" y="2240280"/>
            <a:ext cx="54864" cy="27432"/>
          </a:xfrm>
          <a:prstGeom prst="rect">
            <a:avLst/>
          </a:prstGeom>
          <a:solidFill>
            <a:srgbClr val="60758A"/>
          </a:solidFill>
          <a:ln/>
        </p:spPr>
      </p:sp>
      <p:sp>
        <p:nvSpPr>
          <p:cNvPr id="16" name="Shape 14"/>
          <p:cNvSpPr/>
          <p:nvPr/>
        </p:nvSpPr>
        <p:spPr>
          <a:xfrm>
            <a:off x="3685032" y="178308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1E3A5C"/>
          </a:solidFill>
          <a:ln w="12700">
            <a:solidFill>
              <a:srgbClr val="F07F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85032" y="1783080"/>
            <a:ext cx="1481328" cy="64008"/>
          </a:xfrm>
          <a:prstGeom prst="rect">
            <a:avLst/>
          </a:prstGeom>
          <a:solidFill>
            <a:srgbClr val="F07F45"/>
          </a:solidFill>
          <a:ln/>
        </p:spPr>
      </p:sp>
      <p:sp>
        <p:nvSpPr>
          <p:cNvPr id="18" name="Text 16"/>
          <p:cNvSpPr/>
          <p:nvPr/>
        </p:nvSpPr>
        <p:spPr>
          <a:xfrm>
            <a:off x="3685032" y="1947672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合成设计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85032" y="2286000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逆合成路径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193792" y="2240280"/>
            <a:ext cx="54864" cy="27432"/>
          </a:xfrm>
          <a:prstGeom prst="rect">
            <a:avLst/>
          </a:prstGeom>
          <a:solidFill>
            <a:srgbClr val="60758A"/>
          </a:solidFill>
          <a:ln/>
        </p:spPr>
      </p:sp>
      <p:sp>
        <p:nvSpPr>
          <p:cNvPr id="21" name="Shape 19"/>
          <p:cNvSpPr/>
          <p:nvPr/>
        </p:nvSpPr>
        <p:spPr>
          <a:xfrm>
            <a:off x="5276088" y="178308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1E3A5C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76088" y="1783080"/>
            <a:ext cx="1481328" cy="64008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23" name="Text 21"/>
          <p:cNvSpPr/>
          <p:nvPr/>
        </p:nvSpPr>
        <p:spPr>
          <a:xfrm>
            <a:off x="5276088" y="1947672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实验验证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76088" y="2286000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湿实验·QC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784848" y="2240280"/>
            <a:ext cx="54864" cy="27432"/>
          </a:xfrm>
          <a:prstGeom prst="rect">
            <a:avLst/>
          </a:prstGeom>
          <a:solidFill>
            <a:srgbClr val="60758A"/>
          </a:solidFill>
          <a:ln/>
        </p:spPr>
      </p:sp>
      <p:sp>
        <p:nvSpPr>
          <p:cNvPr id="26" name="Shape 24"/>
          <p:cNvSpPr/>
          <p:nvPr/>
        </p:nvSpPr>
        <p:spPr>
          <a:xfrm>
            <a:off x="6867144" y="178308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1E3A5C"/>
          </a:solidFill>
          <a:ln w="12700">
            <a:solidFill>
              <a:srgbClr val="2E9E7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67144" y="1783080"/>
            <a:ext cx="1481328" cy="64008"/>
          </a:xfrm>
          <a:prstGeom prst="rect">
            <a:avLst/>
          </a:prstGeom>
          <a:solidFill>
            <a:srgbClr val="2E9E7D"/>
          </a:solidFill>
          <a:ln/>
        </p:spPr>
      </p:sp>
      <p:sp>
        <p:nvSpPr>
          <p:cNvPr id="28" name="Text 26"/>
          <p:cNvSpPr/>
          <p:nvPr/>
        </p:nvSpPr>
        <p:spPr>
          <a:xfrm>
            <a:off x="6867144" y="1947672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复盘沉淀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67144" y="2286000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知识·复用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474720" y="3017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8A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数据回流 · 反馈学习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498080" y="2971800"/>
            <a:ext cx="822960" cy="320040"/>
          </a:xfrm>
          <a:prstGeom prst="rightArrow">
            <a:avLst/>
          </a:prstGeom>
          <a:solidFill>
            <a:srgbClr val="18A999">
              <a:alpha val="60000"/>
            </a:srgbClr>
          </a:solidFill>
          <a:ln w="9525">
            <a:solidFill>
              <a:srgbClr val="18A99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2960" y="2971800"/>
            <a:ext cx="822960" cy="320040"/>
          </a:xfrm>
          <a:prstGeom prst="leftArrow">
            <a:avLst/>
          </a:prstGeom>
          <a:solidFill>
            <a:srgbClr val="18A999">
              <a:alpha val="60000"/>
            </a:srgbClr>
          </a:solidFill>
          <a:ln w="9525">
            <a:solidFill>
              <a:srgbClr val="18A99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61188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244466"/>
          </a:solidFill>
          <a:ln w="12700">
            <a:solidFill>
              <a:srgbClr val="18A9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76732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A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闭环每转一圈：周期短一点，试错少一点，知识留下一点。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40080" y="411480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拿一个真实候选走一遍：比如一个固态电解质，从检索到进湿实验，在我们系统里就是这样一圈一圈转的。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4864608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0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新材料研发闭环系统 · 杭州且言管理咨询有限公司 · 2026.8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8321040" y="486460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850" dirty="0"/>
          </a:p>
        </p:txBody>
      </p:sp>
      <p:sp>
        <p:nvSpPr>
          <p:cNvPr id="3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8A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答案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同一个候选，两种走法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画面比文字有说服力：左边是普遍现状，右边是闭环里的走法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335024"/>
            <a:ext cx="822960" cy="41148"/>
          </a:xfrm>
          <a:prstGeom prst="rect">
            <a:avLst/>
          </a:prstGeom>
          <a:solidFill>
            <a:srgbClr val="F07F45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645920"/>
            <a:ext cx="3977640" cy="2743200"/>
          </a:xfrm>
          <a:prstGeom prst="roundRect">
            <a:avLst>
              <a:gd name="adj" fmla="val 2000"/>
            </a:avLst>
          </a:prstGeom>
          <a:solidFill>
            <a:srgbClr val="1E3A5C"/>
          </a:solidFill>
          <a:ln w="9525">
            <a:solidFill>
              <a:srgbClr val="2E4A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45920"/>
            <a:ext cx="3977640" cy="457200"/>
          </a:xfrm>
          <a:prstGeom prst="rect">
            <a:avLst/>
          </a:prstGeom>
          <a:solidFill>
            <a:srgbClr val="216E9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916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今天普遍的走法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286000"/>
            <a:ext cx="960120" cy="457200"/>
          </a:xfrm>
          <a:prstGeom prst="roundRect">
            <a:avLst>
              <a:gd name="adj" fmla="val 16000"/>
            </a:avLst>
          </a:prstGeom>
          <a:solidFill>
            <a:srgbClr val="F07F45">
              <a:alpha val="18000"/>
            </a:srgbClr>
          </a:solidFill>
          <a:ln w="9525">
            <a:solidFill>
              <a:srgbClr val="F07F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8600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7F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28800" y="2286000"/>
            <a:ext cx="960120" cy="457200"/>
          </a:xfrm>
          <a:prstGeom prst="roundRect">
            <a:avLst>
              <a:gd name="adj" fmla="val 16000"/>
            </a:avLst>
          </a:prstGeom>
          <a:solidFill>
            <a:srgbClr val="18A999">
              <a:alpha val="18000"/>
            </a:srgbClr>
          </a:solidFill>
          <a:ln w="9525">
            <a:solidFill>
              <a:srgbClr val="18A9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228600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A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邮件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71800" y="2286000"/>
            <a:ext cx="960120" cy="457200"/>
          </a:xfrm>
          <a:prstGeom prst="roundRect">
            <a:avLst>
              <a:gd name="adj" fmla="val 16000"/>
            </a:avLst>
          </a:prstGeom>
          <a:solidFill>
            <a:srgbClr val="216E9B">
              <a:alpha val="18000"/>
            </a:srgbClr>
          </a:solidFill>
          <a:ln w="9525">
            <a:solidFill>
              <a:srgbClr val="216E9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228600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6E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5800" y="2880360"/>
            <a:ext cx="960120" cy="457200"/>
          </a:xfrm>
          <a:prstGeom prst="roundRect">
            <a:avLst>
              <a:gd name="adj" fmla="val 16000"/>
            </a:avLst>
          </a:prstGeom>
          <a:solidFill>
            <a:srgbClr val="18A999">
              <a:alpha val="18000"/>
            </a:srgbClr>
          </a:solidFill>
          <a:ln w="9525">
            <a:solidFill>
              <a:srgbClr val="18A9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88036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A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828800" y="2880360"/>
            <a:ext cx="960120" cy="457200"/>
          </a:xfrm>
          <a:prstGeom prst="roundRect">
            <a:avLst>
              <a:gd name="adj" fmla="val 16000"/>
            </a:avLst>
          </a:prstGeom>
          <a:solidFill>
            <a:srgbClr val="F07F45">
              <a:alpha val="18000"/>
            </a:srgbClr>
          </a:solidFill>
          <a:ln w="9525">
            <a:solidFill>
              <a:srgbClr val="F07F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0" y="288036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7F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971800" y="2880360"/>
            <a:ext cx="960120" cy="457200"/>
          </a:xfrm>
          <a:prstGeom prst="roundRect">
            <a:avLst>
              <a:gd name="adj" fmla="val 16000"/>
            </a:avLst>
          </a:prstGeom>
          <a:solidFill>
            <a:srgbClr val="216E9B">
              <a:alpha val="18000"/>
            </a:srgbClr>
          </a:solidFill>
          <a:ln w="9525">
            <a:solidFill>
              <a:srgbClr val="216E9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288036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6E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群文件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5800" y="35204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换工具 · 搬数据 · 专家当胶水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1645920"/>
            <a:ext cx="3977640" cy="2743200"/>
          </a:xfrm>
          <a:prstGeom prst="roundRect">
            <a:avLst>
              <a:gd name="adj" fmla="val 2000"/>
            </a:avLst>
          </a:prstGeom>
          <a:solidFill>
            <a:srgbClr val="1E3A5C"/>
          </a:solidFill>
          <a:ln w="9525">
            <a:solidFill>
              <a:srgbClr val="2E4A6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1645920"/>
            <a:ext cx="3977640" cy="457200"/>
          </a:xfrm>
          <a:prstGeom prst="rect">
            <a:avLst/>
          </a:prstGeom>
          <a:solidFill>
            <a:srgbClr val="18A999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16916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闭环里的走法</a:t>
            </a:r>
            <a:endParaRPr lang="en-US" sz="1400" dirty="0"/>
          </a:p>
        </p:txBody>
      </p:sp>
      <p:pic>
        <p:nvPicPr>
          <p:cNvPr id="25" name="Image 0" descr="assets/shot_ecml_1600x9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2212848"/>
            <a:ext cx="3703320" cy="146304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4846320" y="3794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8A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一个入口 · 数据流转 · 结论回流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57200" y="4864608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0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新材料研发闭环系统 · 杭州且言管理咨询有限公司 · 2026.8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8321040" y="486460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850" dirty="0"/>
          </a:p>
        </p:txBody>
      </p:sp>
      <p:sp>
        <p:nvSpPr>
          <p:cNvPr id="2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7F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18A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系统长什么样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框架讲完了。接下来只看一件事：它是不是真的在跑。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07F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4864608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0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新材料研发闭环系统 · 杭州且言管理咨询有限公司 · 2026.8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321040" y="486460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850" dirty="0"/>
          </a:p>
        </p:txBody>
      </p:sp>
      <p:sp>
        <p:nvSpPr>
          <p:cNvPr id="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8A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能力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一条闭环，六个环节——都在一个系统里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每个环节右上角如实标注状态，不藏不掖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335024"/>
            <a:ext cx="822960" cy="41148"/>
          </a:xfrm>
          <a:prstGeom prst="rect">
            <a:avLst/>
          </a:prstGeom>
          <a:solidFill>
            <a:srgbClr val="F07F4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45920"/>
            <a:ext cx="2633472" cy="1371600"/>
          </a:xfrm>
          <a:prstGeom prst="roundRect">
            <a:avLst>
              <a:gd name="adj" fmla="val 4000"/>
            </a:avLst>
          </a:prstGeom>
          <a:solidFill>
            <a:srgbClr val="1E3A5C"/>
          </a:solidFill>
          <a:ln w="9525">
            <a:solidFill>
              <a:srgbClr val="2E4A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45920"/>
            <a:ext cx="73152" cy="1371600"/>
          </a:xfrm>
          <a:prstGeom prst="rect">
            <a:avLst/>
          </a:prstGeom>
          <a:solidFill>
            <a:srgbClr val="18A99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7393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候选生成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40280" y="1773936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2E9E7D">
              <a:alpha val="16000"/>
            </a:srgbClr>
          </a:solidFill>
          <a:ln w="9525">
            <a:solidFill>
              <a:srgbClr val="2E9E7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40280" y="1773936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E9E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已跑通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21408"/>
            <a:ext cx="2340864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晶体检索 + 高分子规则重组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73552" y="1645920"/>
            <a:ext cx="2633472" cy="1371600"/>
          </a:xfrm>
          <a:prstGeom prst="roundRect">
            <a:avLst>
              <a:gd name="adj" fmla="val 4000"/>
            </a:avLst>
          </a:prstGeom>
          <a:solidFill>
            <a:srgbClr val="1E3A5C"/>
          </a:solidFill>
          <a:ln w="9525">
            <a:solidFill>
              <a:srgbClr val="2E4A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73552" y="1645920"/>
            <a:ext cx="73152" cy="1371600"/>
          </a:xfrm>
          <a:prstGeom prst="rect">
            <a:avLst/>
          </a:prstGeom>
          <a:solidFill>
            <a:srgbClr val="216E9B"/>
          </a:solidFill>
          <a:ln/>
        </p:spPr>
      </p:sp>
      <p:sp>
        <p:nvSpPr>
          <p:cNvPr id="14" name="Text 12"/>
          <p:cNvSpPr/>
          <p:nvPr/>
        </p:nvSpPr>
        <p:spPr>
          <a:xfrm>
            <a:off x="3456432" y="177393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性质预测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56632" y="1773936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2E9E7D">
              <a:alpha val="16000"/>
            </a:srgbClr>
          </a:solidFill>
          <a:ln w="9525">
            <a:solidFill>
              <a:srgbClr val="2E9E7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56632" y="1773936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E9E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已跑通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56432" y="2121408"/>
            <a:ext cx="2340864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CGCNN / M3GNet / 高分子 GNN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89904" y="1645920"/>
            <a:ext cx="2633472" cy="1371600"/>
          </a:xfrm>
          <a:prstGeom prst="roundRect">
            <a:avLst>
              <a:gd name="adj" fmla="val 4000"/>
            </a:avLst>
          </a:prstGeom>
          <a:solidFill>
            <a:srgbClr val="1E3A5C"/>
          </a:solidFill>
          <a:ln w="9525">
            <a:solidFill>
              <a:srgbClr val="2E4A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89904" y="1645920"/>
            <a:ext cx="73152" cy="1371600"/>
          </a:xfrm>
          <a:prstGeom prst="rect">
            <a:avLst/>
          </a:prstGeom>
          <a:solidFill>
            <a:srgbClr val="F07F45"/>
          </a:solidFill>
          <a:ln/>
        </p:spPr>
      </p:sp>
      <p:sp>
        <p:nvSpPr>
          <p:cNvPr id="20" name="Text 18"/>
          <p:cNvSpPr/>
          <p:nvPr/>
        </p:nvSpPr>
        <p:spPr>
          <a:xfrm>
            <a:off x="6272784" y="177393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筛选优化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872984" y="1773936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2E9E7D">
              <a:alpha val="16000"/>
            </a:srgbClr>
          </a:solidFill>
          <a:ln w="9525">
            <a:solidFill>
              <a:srgbClr val="2E9E7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72984" y="1773936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E9E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已跑通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72784" y="2121408"/>
            <a:ext cx="2340864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ECML 调度 + 委员会评审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127248"/>
            <a:ext cx="2633472" cy="1371600"/>
          </a:xfrm>
          <a:prstGeom prst="roundRect">
            <a:avLst>
              <a:gd name="adj" fmla="val 4000"/>
            </a:avLst>
          </a:prstGeom>
          <a:solidFill>
            <a:srgbClr val="1E3A5C"/>
          </a:solidFill>
          <a:ln w="9525">
            <a:solidFill>
              <a:srgbClr val="2E4A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127248"/>
            <a:ext cx="73152" cy="1371600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2552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合成路径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240280" y="3255264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FFC000">
              <a:alpha val="16000"/>
            </a:srgbClr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40280" y="3255264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FC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打磨中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0080" y="3602736"/>
            <a:ext cx="2340864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ASKCOS 逆合成规划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73552" y="3127248"/>
            <a:ext cx="2633472" cy="1371600"/>
          </a:xfrm>
          <a:prstGeom prst="roundRect">
            <a:avLst>
              <a:gd name="adj" fmla="val 4000"/>
            </a:avLst>
          </a:prstGeom>
          <a:solidFill>
            <a:srgbClr val="1E3A5C"/>
          </a:solidFill>
          <a:ln w="9525">
            <a:solidFill>
              <a:srgbClr val="2E4A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73552" y="3127248"/>
            <a:ext cx="73152" cy="1371600"/>
          </a:xfrm>
          <a:prstGeom prst="rect">
            <a:avLst/>
          </a:prstGeom>
          <a:solidFill>
            <a:srgbClr val="2E9E7D"/>
          </a:solidFill>
          <a:ln/>
        </p:spPr>
      </p:sp>
      <p:sp>
        <p:nvSpPr>
          <p:cNvPr id="32" name="Text 30"/>
          <p:cNvSpPr/>
          <p:nvPr/>
        </p:nvSpPr>
        <p:spPr>
          <a:xfrm>
            <a:off x="3456432" y="32552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实验闭环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056632" y="3255264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2E9E7D">
              <a:alpha val="16000"/>
            </a:srgbClr>
          </a:solidFill>
          <a:ln w="9525">
            <a:solidFill>
              <a:srgbClr val="2E9E7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56632" y="3255264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E9E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已跑通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456432" y="3602736"/>
            <a:ext cx="2340864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任务单→审批→湿实验→QC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089904" y="3127248"/>
            <a:ext cx="2633472" cy="1371600"/>
          </a:xfrm>
          <a:prstGeom prst="roundRect">
            <a:avLst>
              <a:gd name="adj" fmla="val 4000"/>
            </a:avLst>
          </a:prstGeom>
          <a:solidFill>
            <a:srgbClr val="1E3A5C"/>
          </a:solidFill>
          <a:ln w="9525">
            <a:solidFill>
              <a:srgbClr val="2E4A6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89904" y="3127248"/>
            <a:ext cx="73152" cy="1371600"/>
          </a:xfrm>
          <a:prstGeom prst="rect">
            <a:avLst/>
          </a:prstGeom>
          <a:solidFill>
            <a:srgbClr val="18A999"/>
          </a:solidFill>
          <a:ln/>
        </p:spPr>
      </p:sp>
      <p:sp>
        <p:nvSpPr>
          <p:cNvPr id="38" name="Text 36"/>
          <p:cNvSpPr/>
          <p:nvPr/>
        </p:nvSpPr>
        <p:spPr>
          <a:xfrm>
            <a:off x="6272784" y="32552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决策沉淀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872984" y="3255264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FFC000">
              <a:alpha val="16000"/>
            </a:srgbClr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72984" y="3255264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FC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打磨中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272784" y="3602736"/>
            <a:ext cx="2340864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放行卡 + 收益账单 + 知识资产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8A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这不是六个产品拼在一起，是同一批数据在六个环节里流转。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4864608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0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新材料研发闭环系统 · 杭州且言管理咨询有限公司 · 2026.8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8321040" y="486460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50" dirty="0"/>
          </a:p>
        </p:txBody>
      </p:sp>
      <p:sp>
        <p:nvSpPr>
          <p:cNvPr id="4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8A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能力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每个环节，接的都是经过验证的科学工具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这些模型和工具都是学界、业界验证过的。我们不重复造轮子，功夫花在把它们编排成一条线。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335024"/>
            <a:ext cx="822960" cy="41148"/>
          </a:xfrm>
          <a:prstGeom prst="rect">
            <a:avLst/>
          </a:prstGeom>
          <a:solidFill>
            <a:srgbClr val="F07F4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63040"/>
            <a:ext cx="4114800" cy="1024128"/>
          </a:xfrm>
          <a:prstGeom prst="roundRect">
            <a:avLst>
              <a:gd name="adj" fmla="val 5357"/>
            </a:avLst>
          </a:prstGeom>
          <a:solidFill>
            <a:srgbClr val="1E3A5C"/>
          </a:solidFill>
          <a:ln w="9525">
            <a:solidFill>
              <a:srgbClr val="2E4A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504" y="1645920"/>
            <a:ext cx="603504" cy="603504"/>
          </a:xfrm>
          <a:prstGeom prst="ellipse">
            <a:avLst/>
          </a:prstGeom>
          <a:solidFill>
            <a:srgbClr val="18A999">
              <a:alpha val="18000"/>
            </a:srgbClr>
          </a:solidFill>
          <a:ln w="9525">
            <a:solidFill>
              <a:srgbClr val="18A9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164592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A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25880" y="15544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候选生成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25880" y="1847088"/>
            <a:ext cx="3127248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材料库检索（MP）+ 材料发现（GNoME）+ 晶体元素替换 + 高分子规则重组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4114800" cy="1024128"/>
          </a:xfrm>
          <a:prstGeom prst="roundRect">
            <a:avLst>
              <a:gd name="adj" fmla="val 5357"/>
            </a:avLst>
          </a:prstGeom>
          <a:solidFill>
            <a:srgbClr val="1E3A5C"/>
          </a:solidFill>
          <a:ln w="9525">
            <a:solidFill>
              <a:srgbClr val="2E4A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01184" y="1645920"/>
            <a:ext cx="603504" cy="603504"/>
          </a:xfrm>
          <a:prstGeom prst="ellipse">
            <a:avLst/>
          </a:prstGeom>
          <a:solidFill>
            <a:srgbClr val="216E9B">
              <a:alpha val="18000"/>
            </a:srgbClr>
          </a:solidFill>
          <a:ln w="9525">
            <a:solidFill>
              <a:srgbClr val="216E9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01184" y="164592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6E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23560" y="15544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性质预测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623560" y="1847088"/>
            <a:ext cx="3127248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晶体用 CGCNN/M3GNet，高分子用图神经网络与 polyBERT 指纹，覆盖 5 大类 54 项属性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2596896"/>
            <a:ext cx="4114800" cy="1024128"/>
          </a:xfrm>
          <a:prstGeom prst="roundRect">
            <a:avLst>
              <a:gd name="adj" fmla="val 5357"/>
            </a:avLst>
          </a:prstGeom>
          <a:solidFill>
            <a:srgbClr val="1E3A5C"/>
          </a:solidFill>
          <a:ln w="9525">
            <a:solidFill>
              <a:srgbClr val="2E4A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" y="2779776"/>
            <a:ext cx="603504" cy="603504"/>
          </a:xfrm>
          <a:prstGeom prst="ellipse">
            <a:avLst/>
          </a:prstGeom>
          <a:solidFill>
            <a:srgbClr val="F07F45">
              <a:alpha val="18000"/>
            </a:srgbClr>
          </a:solidFill>
          <a:ln w="9525">
            <a:solidFill>
              <a:srgbClr val="F07F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" y="2779776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7F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25880" y="268833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筛选优化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325880" y="2980944"/>
            <a:ext cx="3127248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ECML 循环调度 + Top-K 评分 + 委员会评审，选出下一轮实验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0" y="2596896"/>
            <a:ext cx="4114800" cy="1024128"/>
          </a:xfrm>
          <a:prstGeom prst="roundRect">
            <a:avLst>
              <a:gd name="adj" fmla="val 5357"/>
            </a:avLst>
          </a:prstGeom>
          <a:solidFill>
            <a:srgbClr val="1E3A5C"/>
          </a:solidFill>
          <a:ln w="9525">
            <a:solidFill>
              <a:srgbClr val="2E4A6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01184" y="2779776"/>
            <a:ext cx="603504" cy="603504"/>
          </a:xfrm>
          <a:prstGeom prst="ellipse">
            <a:avLst/>
          </a:prstGeom>
          <a:solidFill>
            <a:srgbClr val="FFC000">
              <a:alpha val="18000"/>
            </a:srgbClr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01184" y="2779776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23560" y="268833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合成设计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623560" y="2980944"/>
            <a:ext cx="3127248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ASKCOS 逆合成规划多步路径，SMARTS 反应规则检查前置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3730752"/>
            <a:ext cx="4114800" cy="1024128"/>
          </a:xfrm>
          <a:prstGeom prst="roundRect">
            <a:avLst>
              <a:gd name="adj" fmla="val 5357"/>
            </a:avLst>
          </a:prstGeom>
          <a:solidFill>
            <a:srgbClr val="1E3A5C"/>
          </a:solidFill>
          <a:ln w="9525">
            <a:solidFill>
              <a:srgbClr val="2E4A6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3504" y="3913632"/>
            <a:ext cx="603504" cy="603504"/>
          </a:xfrm>
          <a:prstGeom prst="ellipse">
            <a:avLst/>
          </a:prstGeom>
          <a:solidFill>
            <a:srgbClr val="2E9E7D">
              <a:alpha val="18000"/>
            </a:srgbClr>
          </a:solidFill>
          <a:ln w="9525">
            <a:solidFill>
              <a:srgbClr val="2E9E7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" y="3913632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9E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325880" y="382219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实验闭环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325880" y="4114800"/>
            <a:ext cx="3127248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任务单状态机 → 审批 → 湿执行 → 数据归一化 → QC 审计，全程可追溯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54880" y="3730752"/>
            <a:ext cx="4114800" cy="1024128"/>
          </a:xfrm>
          <a:prstGeom prst="roundRect">
            <a:avLst>
              <a:gd name="adj" fmla="val 5357"/>
            </a:avLst>
          </a:prstGeom>
          <a:solidFill>
            <a:srgbClr val="1E3A5C"/>
          </a:solidFill>
          <a:ln w="9525">
            <a:solidFill>
              <a:srgbClr val="2E4A6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01184" y="3913632"/>
            <a:ext cx="603504" cy="603504"/>
          </a:xfrm>
          <a:prstGeom prst="ellipse">
            <a:avLst/>
          </a:prstGeom>
          <a:solidFill>
            <a:srgbClr val="18A999">
              <a:alpha val="18000"/>
            </a:srgbClr>
          </a:solidFill>
          <a:ln w="9525">
            <a:solidFill>
              <a:srgbClr val="18A9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01184" y="3913632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A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623560" y="382219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决策沉淀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623560" y="4114800"/>
            <a:ext cx="3127248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Release Card 放行卡 + 收益账单（已验证/预估区分）+ 知识资产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57200" y="461772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这页是写给台下技术专家看的。这些名字他们认得出来，认出来，信任就开始了。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4864608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0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新材料研发闭环系统 · 杭州且言管理咨询有限公司 · 2026.8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8321040" y="486460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850" dirty="0"/>
          </a:p>
        </p:txBody>
      </p:sp>
      <p:sp>
        <p:nvSpPr>
          <p:cNvPr id="3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8A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产品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一个真实在跑的系统，不是概念演示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统一研发入口：目标 → 计划 → 执行；管理看板：资源、成本、风险一屏掌握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335024"/>
            <a:ext cx="822960" cy="41148"/>
          </a:xfrm>
          <a:prstGeom prst="rect">
            <a:avLst/>
          </a:prstGeom>
          <a:solidFill>
            <a:srgbClr val="F07F45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645920"/>
            <a:ext cx="3977640" cy="2734056"/>
          </a:xfrm>
          <a:prstGeom prst="roundRect">
            <a:avLst>
              <a:gd name="adj" fmla="val 2007"/>
            </a:avLst>
          </a:prstGeom>
          <a:solidFill>
            <a:srgbClr val="1E3A5C"/>
          </a:solidFill>
          <a:ln w="9525">
            <a:solidFill>
              <a:srgbClr val="2E4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71907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07F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真实系统截图 · 数据已脱敏</a:t>
            </a:r>
            <a:endParaRPr lang="en-US" sz="850" dirty="0"/>
          </a:p>
        </p:txBody>
      </p:sp>
      <p:pic>
        <p:nvPicPr>
          <p:cNvPr id="8" name="Image 0" descr="assets/shot_workbench_1600x9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956816"/>
            <a:ext cx="3758184" cy="19568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12648" y="3986784"/>
            <a:ext cx="375818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研发工作台 · 统一入口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12648" y="4224528"/>
            <a:ext cx="375818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从目标到计划到执行，一个入口进入新材料研发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663440" y="1645920"/>
            <a:ext cx="3977640" cy="2734056"/>
          </a:xfrm>
          <a:prstGeom prst="roundRect">
            <a:avLst>
              <a:gd name="adj" fmla="val 2007"/>
            </a:avLst>
          </a:prstGeom>
          <a:solidFill>
            <a:srgbClr val="1E3A5C"/>
          </a:solidFill>
          <a:ln w="9525">
            <a:solidFill>
              <a:srgbClr val="2E4A6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73168" y="171907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07F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真实系统截图 · 数据已脱敏</a:t>
            </a:r>
            <a:endParaRPr lang="en-US" sz="850" dirty="0"/>
          </a:p>
        </p:txBody>
      </p:sp>
      <p:pic>
        <p:nvPicPr>
          <p:cNvPr id="13" name="Image 1" descr="assets/shot_dashboard_1600x9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1956816"/>
            <a:ext cx="3758184" cy="19568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73168" y="3986784"/>
            <a:ext cx="375818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管理看板 · 研发资源总览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773168" y="4224528"/>
            <a:ext cx="375818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 / 实验 / 候选 / 成本，一屏掌握研发全局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457200" y="457200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7F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现在就可以打开系统，现场跑一个候选给各位看。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57200" y="4864608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0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新材料研发闭环系统 · 杭州且言管理咨询有限公司 · 2026.8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8321040" y="486460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850" dirty="0"/>
          </a:p>
        </p:txBody>
      </p:sp>
      <p:sp>
        <p:nvSpPr>
          <p:cNvPr id="1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8A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AI 透明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做的每一步，你看得见、查得到、能否决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说透明不如展示透明——一张真实的推理链截图，顶一千句承诺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335024"/>
            <a:ext cx="822960" cy="41148"/>
          </a:xfrm>
          <a:prstGeom prst="rect">
            <a:avLst/>
          </a:prstGeom>
          <a:solidFill>
            <a:srgbClr val="F07F4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45920"/>
            <a:ext cx="5120640" cy="841248"/>
          </a:xfrm>
          <a:prstGeom prst="roundRect">
            <a:avLst>
              <a:gd name="adj" fmla="val 6522"/>
            </a:avLst>
          </a:prstGeom>
          <a:solidFill>
            <a:srgbClr val="1E3A5C"/>
          </a:solidFill>
          <a:ln w="9525">
            <a:solidFill>
              <a:srgbClr val="2E4A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45920"/>
            <a:ext cx="73152" cy="841248"/>
          </a:xfrm>
          <a:prstGeom prst="rect">
            <a:avLst/>
          </a:prstGeom>
          <a:solidFill>
            <a:srgbClr val="18A99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哪个 Agent 在做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2029968"/>
            <a:ext cx="4754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每个环节明确显示调用了哪个 Agent / 工具及其简介，不做黑盒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5120640" cy="841248"/>
          </a:xfrm>
          <a:prstGeom prst="roundRect">
            <a:avLst>
              <a:gd name="adj" fmla="val 6522"/>
            </a:avLst>
          </a:prstGeom>
          <a:solidFill>
            <a:srgbClr val="1E3A5C"/>
          </a:solidFill>
          <a:ln w="9525">
            <a:solidFill>
              <a:srgbClr val="2E4A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606040"/>
            <a:ext cx="73152" cy="841248"/>
          </a:xfrm>
          <a:prstGeom prst="rect">
            <a:avLst/>
          </a:prstGeom>
          <a:solidFill>
            <a:srgbClr val="216E9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9748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推理过程可展开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2990088"/>
            <a:ext cx="4754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的推理理由、证据与依据可展开查看，不是只给结论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5120640" cy="841248"/>
          </a:xfrm>
          <a:prstGeom prst="roundRect">
            <a:avLst>
              <a:gd name="adj" fmla="val 6522"/>
            </a:avLst>
          </a:prstGeom>
          <a:solidFill>
            <a:srgbClr val="1E3A5C"/>
          </a:solidFill>
          <a:ln w="9525">
            <a:solidFill>
              <a:srgbClr val="2E4A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566160"/>
            <a:ext cx="73152" cy="841248"/>
          </a:xfrm>
          <a:prstGeom prst="rect">
            <a:avLst/>
          </a:prstGeom>
          <a:solidFill>
            <a:srgbClr val="F07F45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65760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结论可人工覆盖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3950208"/>
            <a:ext cx="4754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结论可回看、可审计、可人工覆盖，专家不签字，AI 的结论就是废纸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760720" y="1645920"/>
            <a:ext cx="2880360" cy="2743200"/>
          </a:xfrm>
          <a:prstGeom prst="roundRect">
            <a:avLst>
              <a:gd name="adj" fmla="val 2000"/>
            </a:avLst>
          </a:prstGeom>
          <a:solidFill>
            <a:srgbClr val="1E3A5C"/>
          </a:solidFill>
          <a:ln w="9525">
            <a:solidFill>
              <a:srgbClr val="2E4A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70448" y="1737360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07F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推理链 · 实时界面</a:t>
            </a:r>
            <a:endParaRPr lang="en-US" sz="1000" dirty="0"/>
          </a:p>
        </p:txBody>
      </p:sp>
      <p:pic>
        <p:nvPicPr>
          <p:cNvPr id="20" name="Image 0" descr="assets/shot_controlplane_1600x9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0448" y="2048256"/>
            <a:ext cx="2651760" cy="173736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870448" y="391363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运行队列 + 失败可恢复 + 全程留痕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57200" y="4864608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0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新材料研发闭环系统 · 杭州且言管理咨询有限公司 · 2026.8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8321040" y="486460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850" dirty="0"/>
          </a:p>
        </p:txBody>
      </p:sp>
      <p:sp>
        <p:nvSpPr>
          <p:cNvPr id="2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7F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18A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值多少钱，凭什么选我们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接下来回答两个最实际的问题。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07F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4864608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0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新材料研发闭环系统 · 杭州且言管理咨询有限公司 · 2026.8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321040" y="486460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850" dirty="0"/>
          </a:p>
        </p:txBody>
      </p:sp>
      <p:sp>
        <p:nvSpPr>
          <p:cNvPr id="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8A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价值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这套系统值多少钱？算一笔账给你看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一个候选从提出到验证，传统做法要【X】轮往返、【Y】周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335024"/>
            <a:ext cx="822960" cy="41148"/>
          </a:xfrm>
          <a:prstGeom prst="rect">
            <a:avLst/>
          </a:prstGeom>
          <a:solidFill>
            <a:srgbClr val="F07F45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645920"/>
            <a:ext cx="2651760" cy="2011680"/>
          </a:xfrm>
          <a:prstGeom prst="roundRect">
            <a:avLst>
              <a:gd name="adj" fmla="val 2727"/>
            </a:avLst>
          </a:prstGeom>
          <a:solidFill>
            <a:srgbClr val="1E3A5C"/>
          </a:solidFill>
          <a:ln w="9525">
            <a:solidFill>
              <a:srgbClr val="2E4A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45920"/>
            <a:ext cx="2651760" cy="64008"/>
          </a:xfrm>
          <a:prstGeom prst="rect">
            <a:avLst/>
          </a:prstGeom>
          <a:solidFill>
            <a:srgbClr val="18A999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828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预筛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2402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先砍掉明显不行的候选，无效实验大幅减少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3154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8A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减少无效湿实验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64408" y="1645920"/>
            <a:ext cx="2651760" cy="2011680"/>
          </a:xfrm>
          <a:prstGeom prst="roundRect">
            <a:avLst>
              <a:gd name="adj" fmla="val 2727"/>
            </a:avLst>
          </a:prstGeom>
          <a:solidFill>
            <a:srgbClr val="1E3A5C"/>
          </a:solidFill>
          <a:ln w="9525">
            <a:solidFill>
              <a:srgbClr val="2E4A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64408" y="1645920"/>
            <a:ext cx="2651760" cy="64008"/>
          </a:xfrm>
          <a:prstGeom prst="rect">
            <a:avLst/>
          </a:prstGeom>
          <a:solidFill>
            <a:srgbClr val="F07F45"/>
          </a:solidFill>
          <a:ln/>
        </p:spPr>
      </p:sp>
      <p:sp>
        <p:nvSpPr>
          <p:cNvPr id="13" name="Text 11"/>
          <p:cNvSpPr/>
          <p:nvPr/>
        </p:nvSpPr>
        <p:spPr>
          <a:xfrm>
            <a:off x="3447288" y="1828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委员会评审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47288" y="22402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评审委员会再筛一轮，只留最值得做的几个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47288" y="3154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07F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只进最值得的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25896" y="1645920"/>
            <a:ext cx="2651760" cy="2011680"/>
          </a:xfrm>
          <a:prstGeom prst="roundRect">
            <a:avLst>
              <a:gd name="adj" fmla="val 2727"/>
            </a:avLst>
          </a:prstGeom>
          <a:solidFill>
            <a:srgbClr val="1E3A5C"/>
          </a:solidFill>
          <a:ln w="9525">
            <a:solidFill>
              <a:srgbClr val="2E4A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25896" y="1645920"/>
            <a:ext cx="2651760" cy="64008"/>
          </a:xfrm>
          <a:prstGeom prst="rect">
            <a:avLst/>
          </a:prstGeom>
          <a:solidFill>
            <a:srgbClr val="216E9B"/>
          </a:solidFill>
          <a:ln/>
        </p:spPr>
      </p:sp>
      <p:sp>
        <p:nvSpPr>
          <p:cNvPr id="18" name="Text 16"/>
          <p:cNvSpPr/>
          <p:nvPr/>
        </p:nvSpPr>
        <p:spPr>
          <a:xfrm>
            <a:off x="6208776" y="1828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收益认证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08776" y="22402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已验证 / 预估严格区分，不注水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08776" y="3154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16E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审计可查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88620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244466"/>
          </a:solidFill>
          <a:ln w="12700">
            <a:solidFill>
              <a:srgbClr val="18A9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0233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8A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我们在电池材料上的实测：【往返次数 / 周期 / 实验数变化——放真实数据，宁可保守】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4864608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0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新材料研发闭环系统 · 杭州且言管理咨询有限公司 · 2026.8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321040" y="486460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850" dirty="0"/>
          </a:p>
        </p:txBody>
      </p:sp>
      <p:sp>
        <p:nvSpPr>
          <p:cNvPr id="2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8A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差异化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我们强在哪，弱在哪，一页说清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主动说清强弱，客户心里本来就有这些疑问，你先说，他就没法拿这个攻击你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335024"/>
            <a:ext cx="822960" cy="41148"/>
          </a:xfrm>
          <a:prstGeom prst="rect">
            <a:avLst/>
          </a:prstGeom>
          <a:solidFill>
            <a:srgbClr val="F07F45"/>
          </a:solidFill>
          <a:ln/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2286000"/>
        </p:xfrm>
        <a:graphic>
          <a:graphicData uri="http://schemas.openxmlformats.org/drawingml/2006/table">
            <a:tbl>
              <a:tblPr/>
              <a:tblGrid>
                <a:gridCol w="1554480"/>
                <a:gridCol w="1920240"/>
                <a:gridCol w="2103120"/>
                <a:gridCol w="26517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4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单点工具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4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纯计算平台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4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我们（闭环平台）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46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DCE7E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覆盖环节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CE7E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单任务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CE7E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计算为主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7F4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生成—筛选—预测—合成—实验—沉淀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DCE7E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湿实验衔接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CE7E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CE7E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7F4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任务单→审批→湿执行→QC 全链路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DCE7E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数据回流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CE7E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CE7E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7F4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实验结论回流修正候选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DCE7E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决策沉淀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CE7E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CE7E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弱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7F4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放行卡 + 知识资产 + 收益证明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97764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07F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我们认的短板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22452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品牌与规模：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920240" y="4224528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初创公司，团队【X】人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57200" y="448056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行业覆盖：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920240" y="448056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只做新材料，别的不做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754880" y="422452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0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据我们所知，同时打通生成、实验和数据沉淀的还很少。如果有同行做到了，欢迎交流。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57200" y="4864608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0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新材料研发闭环系统 · 杭州且言管理咨询有限公司 · 2026.8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8321040" y="486460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850" dirty="0"/>
          </a:p>
        </p:txBody>
      </p:sp>
      <p:sp>
        <p:nvSpPr>
          <p:cNvPr id="1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8A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生态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为什么我们最懂 RD&amp;L 用户的痛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创始人在西门子做了九年 Opcenter RD&amp;L 产品管理，跑过中国区几十家材料与配方企业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335024"/>
            <a:ext cx="822960" cy="41148"/>
          </a:xfrm>
          <a:prstGeom prst="rect">
            <a:avLst/>
          </a:prstGeom>
          <a:solidFill>
            <a:srgbClr val="F07F45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645920"/>
            <a:ext cx="2377440" cy="2743200"/>
          </a:xfrm>
          <a:prstGeom prst="roundRect">
            <a:avLst>
              <a:gd name="adj" fmla="val 2308"/>
            </a:avLst>
          </a:prstGeom>
          <a:solidFill>
            <a:srgbClr val="1E3A5C"/>
          </a:solidFill>
          <a:ln w="9525">
            <a:solidFill>
              <a:srgbClr val="2E4A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74520"/>
            <a:ext cx="1554480" cy="1554480"/>
          </a:xfrm>
          <a:prstGeom prst="ellipse">
            <a:avLst/>
          </a:prstGeom>
          <a:solidFill>
            <a:srgbClr val="18A999">
              <a:alpha val="55000"/>
            </a:srgbClr>
          </a:solidFill>
          <a:ln w="19050">
            <a:solidFill>
              <a:srgbClr val="18A9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3317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创始人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611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7F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 RD&amp;L 产品管理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39319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【姓名】· 前西门子 Opcenter RD&amp;L 中国区产品管理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08960" y="1645920"/>
            <a:ext cx="5532120" cy="2194560"/>
          </a:xfrm>
          <a:prstGeom prst="roundRect">
            <a:avLst>
              <a:gd name="adj" fmla="val 2500"/>
            </a:avLst>
          </a:prstGeom>
          <a:solidFill>
            <a:srgbClr val="1E3A5C"/>
          </a:solidFill>
          <a:ln w="9525">
            <a:solidFill>
              <a:srgbClr val="2E4A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08960" y="1645920"/>
            <a:ext cx="73152" cy="2194560"/>
          </a:xfrm>
          <a:prstGeom prst="rect">
            <a:avLst/>
          </a:prstGeom>
          <a:solidFill>
            <a:srgbClr val="F07F45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828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同一个画面反复出现：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21945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CE7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RD&amp;L 把配方和实验数据管得井井有条，但'下一个实验做什么'，还是靠专家拍脑袋。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108960" y="4023360"/>
            <a:ext cx="5532120" cy="548640"/>
          </a:xfrm>
          <a:prstGeom prst="roundRect">
            <a:avLst>
              <a:gd name="adj" fmla="val 10000"/>
            </a:avLst>
          </a:prstGeom>
          <a:solidFill>
            <a:srgbClr val="244466"/>
          </a:solidFill>
          <a:ln w="12700">
            <a:solidFill>
              <a:srgbClr val="18A9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411480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8A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这套系统就是补这一层的——RD&amp;L 继续做企业主数据和合规底座，我们把 AI 研发闭环接上去，双向打通。已经在用 RD&amp;L 的客户，什么都不用换。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864608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0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新材料研发闭环系统 · 杭州且言管理咨询有限公司 · 2026.8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8321040" y="486460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850" dirty="0"/>
          </a:p>
        </p:txBody>
      </p:sp>
      <p:sp>
        <p:nvSpPr>
          <p:cNvPr id="1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8A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路线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从已验证的电池材料，扩展到更广的新材料研发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为什么先做电池材料——它是新材料里最难的场景之一，数据基础最好，也是我们最熟的领域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335024"/>
            <a:ext cx="822960" cy="41148"/>
          </a:xfrm>
          <a:prstGeom prst="rect">
            <a:avLst/>
          </a:prstGeom>
          <a:solidFill>
            <a:srgbClr val="F07F4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0020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1E3A5C"/>
          </a:solidFill>
          <a:ln w="9525">
            <a:solidFill>
              <a:srgbClr val="2E4A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00200"/>
            <a:ext cx="73152" cy="777240"/>
          </a:xfrm>
          <a:prstGeom prst="rect">
            <a:avLst/>
          </a:prstGeom>
          <a:solidFill>
            <a:srgbClr val="F07F45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7099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电池材料（已验证）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1920" y="1709928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固态电解质 / 正负极 / 聚合物电解质，闭环已跑通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909560" y="1856232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F07F45">
              <a:alpha val="16000"/>
            </a:srgbClr>
          </a:solidFill>
          <a:ln w="9525">
            <a:solidFill>
              <a:srgbClr val="F07F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09560" y="185623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07F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已跑通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1E3A5C"/>
          </a:solidFill>
          <a:ln w="9525">
            <a:solidFill>
              <a:srgbClr val="2E4A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560320"/>
            <a:ext cx="73152" cy="777240"/>
          </a:xfrm>
          <a:prstGeom prst="rect">
            <a:avLst/>
          </a:prstGeom>
          <a:solidFill>
            <a:srgbClr val="18A999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6700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聚合物 / 催化剂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31920" y="2670048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复用同一套生成—预测—实验闭环，适配对应表示与模型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909560" y="2816352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18A999">
              <a:alpha val="16000"/>
            </a:srgbClr>
          </a:solidFill>
          <a:ln w="9525">
            <a:solidFill>
              <a:srgbClr val="18A9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09560" y="281635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8A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52044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1E3A5C"/>
          </a:solidFill>
          <a:ln w="9525">
            <a:solidFill>
              <a:srgbClr val="2E4A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520440"/>
            <a:ext cx="73152" cy="777240"/>
          </a:xfrm>
          <a:prstGeom prst="rect">
            <a:avLst/>
          </a:prstGeom>
          <a:solidFill>
            <a:srgbClr val="216E9B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63016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日化配方 / 电子化学品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931920" y="3630168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叠加行业包与客户定制，形成垂直 Playbook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909560" y="3776472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216E9B">
              <a:alpha val="16000"/>
            </a:srgbClr>
          </a:solidFill>
          <a:ln w="9525">
            <a:solidFill>
              <a:srgbClr val="216E9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09560" y="377647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16E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452628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1E3A5C"/>
          </a:solidFill>
          <a:ln w="12700">
            <a:solidFill>
              <a:srgbClr val="F07F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64515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07F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聚合物和催化剂我们还在早期，今天不展开——展开了也是纸上谈兵。做成了，再来向各位汇报。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864608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0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新材料研发闭环系统 · 杭州且言管理咨询有限公司 · 2026.8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8321040" y="486460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850" dirty="0"/>
          </a:p>
        </p:txBody>
      </p:sp>
      <p:sp>
        <p:nvSpPr>
          <p:cNvPr id="2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7F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18A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· 凭什么相信一家初创公司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我们不打算用口号回答。接下来几页，全是证据。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07F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4864608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0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新材料研发闭环系统 · 杭州且言管理咨询有限公司 · 2026.8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321040" y="486460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850" dirty="0"/>
          </a:p>
        </p:txBody>
      </p:sp>
      <p:sp>
        <p:nvSpPr>
          <p:cNvPr id="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8A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· 信任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我们是谁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初创公司向客户要信任，'谁在做这件事'和'做什么'同样重要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335024"/>
            <a:ext cx="822960" cy="41148"/>
          </a:xfrm>
          <a:prstGeom prst="rect">
            <a:avLst/>
          </a:prstGeom>
          <a:solidFill>
            <a:srgbClr val="F07F45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645920"/>
            <a:ext cx="2743200" cy="2377440"/>
          </a:xfrm>
          <a:prstGeom prst="roundRect">
            <a:avLst>
              <a:gd name="adj" fmla="val 2308"/>
            </a:avLst>
          </a:prstGeom>
          <a:solidFill>
            <a:srgbClr val="1E3A5C"/>
          </a:solidFill>
          <a:ln w="9525">
            <a:solidFill>
              <a:srgbClr val="2E4A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828800"/>
            <a:ext cx="1463040" cy="1463040"/>
          </a:xfrm>
          <a:prstGeom prst="ellipse">
            <a:avLst/>
          </a:prstGeom>
          <a:solidFill>
            <a:srgbClr val="F07F45">
              <a:alpha val="55000"/>
            </a:srgbClr>
          </a:solidFill>
          <a:ln w="19050">
            <a:solidFill>
              <a:srgbClr val="F07F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3317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创始人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4290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创始人【姓名】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7033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西门子 Opcenter RD&amp;L 九年 · 中国区产品管理 · 服务过几十家材料与配方企业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520440" y="1645920"/>
            <a:ext cx="2743200" cy="2377440"/>
          </a:xfrm>
          <a:prstGeom prst="roundRect">
            <a:avLst>
              <a:gd name="adj" fmla="val 2308"/>
            </a:avLst>
          </a:prstGeom>
          <a:solidFill>
            <a:srgbClr val="1E3A5C"/>
          </a:solidFill>
          <a:ln w="9525">
            <a:solidFill>
              <a:srgbClr val="2E4A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1828800"/>
            <a:ext cx="1463040" cy="1463040"/>
          </a:xfrm>
          <a:prstGeom prst="ellipse">
            <a:avLst/>
          </a:prstGeom>
          <a:solidFill>
            <a:srgbClr val="18A999">
              <a:alpha val="55000"/>
            </a:srgbClr>
          </a:solidFill>
          <a:ln w="19050">
            <a:solidFill>
              <a:srgbClr val="18A9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23317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57600" y="34290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团队【X】人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0" y="37033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材料信息学 / 软件工程 / 湿实验，三类背景互补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537960" y="1645920"/>
            <a:ext cx="2103120" cy="2377440"/>
          </a:xfrm>
          <a:prstGeom prst="roundRect">
            <a:avLst>
              <a:gd name="adj" fmla="val 2609"/>
            </a:avLst>
          </a:prstGeom>
          <a:solidFill>
            <a:srgbClr val="1E3A5C"/>
          </a:solidFill>
          <a:ln w="9525">
            <a:solidFill>
              <a:srgbClr val="2E4A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37960" y="1645920"/>
            <a:ext cx="2103120" cy="73152"/>
          </a:xfrm>
          <a:prstGeom prst="rect">
            <a:avLst/>
          </a:prstGeom>
          <a:solidFill>
            <a:srgbClr val="F07F45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18288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07F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一句实话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75120" y="219456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CE7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我们是初创公司，人不多，但这件事我们想了很久，也只做了这一件事。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864608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0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新材料研发闭环系统 · 杭州且言管理咨询有限公司 · 2026.8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8321040" y="486460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850" dirty="0"/>
          </a:p>
        </p:txBody>
      </p:sp>
      <p:sp>
        <p:nvSpPr>
          <p:cNvPr id="2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8A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· 治理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企业敢把核心数据放进来，是因为这四道闸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讲给 IT 和管理层听：研发关心好不好用，他们关心出不出事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335024"/>
            <a:ext cx="822960" cy="41148"/>
          </a:xfrm>
          <a:prstGeom prst="rect">
            <a:avLst/>
          </a:prstGeom>
          <a:solidFill>
            <a:srgbClr val="F07F4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45920"/>
            <a:ext cx="4114800" cy="1188720"/>
          </a:xfrm>
          <a:prstGeom prst="roundRect">
            <a:avLst>
              <a:gd name="adj" fmla="val 4615"/>
            </a:avLst>
          </a:prstGeom>
          <a:solidFill>
            <a:srgbClr val="1E3A5C"/>
          </a:solidFill>
          <a:ln w="9525">
            <a:solidFill>
              <a:srgbClr val="2E4A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504" y="1892808"/>
            <a:ext cx="694944" cy="694944"/>
          </a:xfrm>
          <a:prstGeom prst="ellipse">
            <a:avLst/>
          </a:prstGeom>
          <a:solidFill>
            <a:srgbClr val="18A999">
              <a:alpha val="18000"/>
            </a:srgbClr>
          </a:solidFill>
          <a:ln w="9525">
            <a:solidFill>
              <a:srgbClr val="18A9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189280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A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177393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数据不出你的边界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17320" y="2103120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私有化部署 + 数据隔离 + 角色权限，你的配方只有你能看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1645920"/>
            <a:ext cx="4114800" cy="1188720"/>
          </a:xfrm>
          <a:prstGeom prst="roundRect">
            <a:avLst>
              <a:gd name="adj" fmla="val 4615"/>
            </a:avLst>
          </a:prstGeom>
          <a:solidFill>
            <a:srgbClr val="1E3A5C"/>
          </a:solidFill>
          <a:ln w="9525">
            <a:solidFill>
              <a:srgbClr val="2E4A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01184" y="1892808"/>
            <a:ext cx="694944" cy="694944"/>
          </a:xfrm>
          <a:prstGeom prst="ellipse">
            <a:avLst/>
          </a:prstGeom>
          <a:solidFill>
            <a:srgbClr val="F07F45">
              <a:alpha val="18000"/>
            </a:srgbClr>
          </a:solidFill>
          <a:ln w="9525">
            <a:solidFill>
              <a:srgbClr val="F07F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01184" y="189280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7F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715000" y="177393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每个决策有人负责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715000" y="2103120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给建议，人做放行。放行卡记录谁点的头、依据是什么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999232"/>
            <a:ext cx="4114800" cy="1188720"/>
          </a:xfrm>
          <a:prstGeom prst="roundRect">
            <a:avLst>
              <a:gd name="adj" fmla="val 4615"/>
            </a:avLst>
          </a:prstGeom>
          <a:solidFill>
            <a:srgbClr val="1E3A5C"/>
          </a:solidFill>
          <a:ln w="9525">
            <a:solidFill>
              <a:srgbClr val="2E4A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" y="3246120"/>
            <a:ext cx="694944" cy="694944"/>
          </a:xfrm>
          <a:prstGeom prst="ellipse">
            <a:avLst/>
          </a:prstGeom>
          <a:solidFill>
            <a:srgbClr val="216E9B">
              <a:alpha val="18000"/>
            </a:srgbClr>
          </a:solidFill>
          <a:ln w="9525">
            <a:solidFill>
              <a:srgbClr val="216E9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" y="3246120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6E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7320" y="312724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行为有缰绳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17320" y="3456432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预算超限自动停、工具调用走网关、全程留日志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54880" y="2999232"/>
            <a:ext cx="4114800" cy="1188720"/>
          </a:xfrm>
          <a:prstGeom prst="roundRect">
            <a:avLst>
              <a:gd name="adj" fmla="val 4615"/>
            </a:avLst>
          </a:prstGeom>
          <a:solidFill>
            <a:srgbClr val="1E3A5C"/>
          </a:solidFill>
          <a:ln w="9525">
            <a:solidFill>
              <a:srgbClr val="2E4A6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01184" y="3246120"/>
            <a:ext cx="694944" cy="694944"/>
          </a:xfrm>
          <a:prstGeom prst="ellipse">
            <a:avLst/>
          </a:prstGeom>
          <a:solidFill>
            <a:srgbClr val="FFC000">
              <a:alpha val="18000"/>
            </a:srgbClr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01184" y="3246120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C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715000" y="312724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收益不注水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715000" y="3456432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'已验证'和'预估'分两本账，审计可查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864608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0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新材料研发闭环系统 · 杭州且言管理咨询有限公司 · 2026.8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8321040" y="486460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850" dirty="0"/>
          </a:p>
        </p:txBody>
      </p:sp>
      <p:sp>
        <p:nvSpPr>
          <p:cNvPr id="2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8A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· 硬验证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这些数字，欢迎各位现场复测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敢讲失败过的公司，数字才有人信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335024"/>
            <a:ext cx="822960" cy="41148"/>
          </a:xfrm>
          <a:prstGeom prst="rect">
            <a:avLst/>
          </a:prstGeom>
          <a:solidFill>
            <a:srgbClr val="F07F45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600200"/>
            <a:ext cx="8138160" cy="1051560"/>
          </a:xfrm>
          <a:prstGeom prst="roundRect">
            <a:avLst>
              <a:gd name="adj" fmla="val 5217"/>
            </a:avLst>
          </a:prstGeom>
          <a:solidFill>
            <a:srgbClr val="244466"/>
          </a:solidFill>
          <a:ln w="9525">
            <a:solidFill>
              <a:srgbClr val="2E4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830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07F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87%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286000" y="19202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834640" y="17830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8A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480560" y="187452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第一次专业测评，我们只拿了 87%。修完所有问题，才到 23/23。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880360"/>
            <a:ext cx="1965960" cy="1600200"/>
          </a:xfrm>
          <a:prstGeom prst="roundRect">
            <a:avLst>
              <a:gd name="adj" fmla="val 3429"/>
            </a:avLst>
          </a:prstGeom>
          <a:solidFill>
            <a:srgbClr val="1E3A5C"/>
          </a:solidFill>
          <a:ln w="9525">
            <a:solidFill>
              <a:srgbClr val="2E4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99923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8A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23/23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40080" y="347472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科学正确性用例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730752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 DIPPR / NIST 等文献标准值全部通过复测（文献验证）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560320" y="2880360"/>
            <a:ext cx="1965960" cy="1600200"/>
          </a:xfrm>
          <a:prstGeom prst="roundRect">
            <a:avLst>
              <a:gd name="adj" fmla="val 3429"/>
            </a:avLst>
          </a:prstGeom>
          <a:solidFill>
            <a:srgbClr val="1E3A5C"/>
          </a:solidFill>
          <a:ln w="9525">
            <a:solidFill>
              <a:srgbClr val="2E4A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97480" y="299923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16E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3,116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697480" y="347472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候选材料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97480" y="3730752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系统内真实累积（演示环境数据）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17720" y="2880360"/>
            <a:ext cx="1965960" cy="1600200"/>
          </a:xfrm>
          <a:prstGeom prst="roundRect">
            <a:avLst>
              <a:gd name="adj" fmla="val 3429"/>
            </a:avLst>
          </a:prstGeom>
          <a:solidFill>
            <a:srgbClr val="1E3A5C"/>
          </a:solidFill>
          <a:ln w="9525">
            <a:solidFill>
              <a:srgbClr val="2E4A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99923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C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801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754880" y="347472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实验任务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3730752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实验任务全链路管理（演示环境数据）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675120" y="2880360"/>
            <a:ext cx="1965960" cy="1600200"/>
          </a:xfrm>
          <a:prstGeom prst="roundRect">
            <a:avLst>
              <a:gd name="adj" fmla="val 3429"/>
            </a:avLst>
          </a:prstGeom>
          <a:solidFill>
            <a:srgbClr val="1E3A5C"/>
          </a:solidFill>
          <a:ln w="9525">
            <a:solidFill>
              <a:srgbClr val="2E4A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299923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07F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812280" y="347472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属性字段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12280" y="3730752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大类 54 项材料属性（系统注册）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7200" y="46177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7F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以上数字均可现场复测，欢迎带你们的测试集来。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4864608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0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新材料研发闭环系统 · 杭州且言管理咨询有限公司 · 2026.8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321040" y="486460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850" dirty="0"/>
          </a:p>
        </p:txBody>
      </p:sp>
      <p:sp>
        <p:nvSpPr>
          <p:cNvPr id="3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7F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先别信我们，信你自己的数据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07F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页 PPT 说服不了任何人，我们也没打算靠它。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F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挑一个你们手上正在做的材料项目，给我们三个月。下一轮实验更准、周期更短——用你们自己的数据说话。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8A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做不到，你不欠我们任何东西。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首批灯塔客户招募中 ·【联系人 / 微信 / 邮箱】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48056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0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新材料研发闭环系统 · MaterialsPEML · 杭州且言管理咨询有限公司</a:t>
            </a:r>
            <a:endParaRPr lang="en-US" sz="1000" dirty="0"/>
          </a:p>
        </p:txBody>
      </p:sp>
      <p:sp>
        <p:nvSpPr>
          <p:cNvPr id="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新材料研发闭环系统 · 产品介绍</dc:title>
  <dc:subject>MaterialsPEML 售前产品介绍</dc:subject>
  <dc:creator>杭州且言管理咨询有限公司</dc:creator>
  <cp:lastModifiedBy>杭州且言管理咨询有限公司</cp:lastModifiedBy>
  <cp:revision>1</cp:revision>
  <dcterms:created xsi:type="dcterms:W3CDTF">2026-08-07T06:41:04Z</dcterms:created>
  <dcterms:modified xsi:type="dcterms:W3CDTF">2026-08-07T06:41:04Z</dcterms:modified>
</cp:coreProperties>
</file>